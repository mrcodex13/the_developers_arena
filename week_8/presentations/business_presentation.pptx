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Customer Base Composition (%)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bubble3D val="0"/>
            <c:spPr>
              <a:solidFill>
                <a:srgbClr val="F9616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Retained</c:v>
                </c:pt>
                <c:pt idx="1">
                  <c:v>Churned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89.4</c:v>
                </c:pt>
                <c:pt idx="1">
                  <c:v>10.6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Churn Rate by Contract Type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One year</c:v>
                  </c:pt>
                  <c:pt idx="1">
                    <c:v>Two year</c:v>
                  </c:pt>
                  <c:pt idx="2">
                    <c:v>Month-to-month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6.9</c:v>
                </c:pt>
                <c:pt idx="2">
                  <c:v>20.6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 Analysis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Retention Strategy for Telecom Customers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Kartik Singh  |  B.Tech IT (AI &amp; Robotics), MITS Gwalior  |  Capstone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463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240280"/>
            <a:ext cx="457200" cy="4572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240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017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Key Patterns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57200" cy="4572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794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572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 Performance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520" y="5349240"/>
            <a:ext cx="457200" cy="4572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349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53492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Implementation Plan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6583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directly erodes recurring revenue — and acquiring a new customer costs far more than retaining one.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6583680" cy="731520"/>
          </a:xfrm>
          <a:prstGeom prst="roundRect">
            <a:avLst>
              <a:gd name="adj" fmla="val 12500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74320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 are most likely to churn, and why?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6583680" cy="731520"/>
          </a:xfrm>
          <a:prstGeom prst="roundRect">
            <a:avLst>
              <a:gd name="adj" fmla="val 12500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65760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patterns statistically real — or coincidence?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4572000"/>
            <a:ext cx="6583680" cy="731520"/>
          </a:xfrm>
          <a:prstGeom prst="roundRect">
            <a:avLst>
              <a:gd name="adj" fmla="val 12500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57200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churn early enough to intervene?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63840" y="20116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10.6%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786384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overall churn rate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63840" y="40233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786384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 analyzed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29000" y="14630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5544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42900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Features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5544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12648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823960" y="14630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23960" y="15544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82396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65760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57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Validate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365760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880360" y="365760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3D4A9C"/>
          </a:solidFill>
          <a:ln/>
        </p:spPr>
      </p:sp>
      <p:sp>
        <p:nvSpPr>
          <p:cNvPr id="19" name="Text 17"/>
          <p:cNvSpPr/>
          <p:nvPr/>
        </p:nvSpPr>
        <p:spPr>
          <a:xfrm>
            <a:off x="2880360" y="3657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(EDA)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365760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029200" y="365760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3657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Hypotheses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365760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178040" y="365760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3D4A9C"/>
          </a:solidFill>
          <a:ln/>
        </p:spPr>
      </p:sp>
      <p:sp>
        <p:nvSpPr>
          <p:cNvPr id="25" name="Text 23"/>
          <p:cNvSpPr/>
          <p:nvPr/>
        </p:nvSpPr>
        <p:spPr>
          <a:xfrm>
            <a:off x="7178040" y="3657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Predict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06840" y="365760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326880" y="365760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9326880" y="3657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" y="484632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 — Logistic Regression and Random Forest — were trained independently to cross-validate which churn drivers are genuine.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is a Minority — But a Costly One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371600"/>
          <a:ext cx="50292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126480" y="210312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10.6% churn rate represents meaningful recurring-revenue loss at scale — and is concentrated in identifiable segments, not random.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Type Drives Churn the Most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371600"/>
          <a:ext cx="104241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Tenure is the Highest-Risk Window</a:t>
            </a:r>
            <a:endParaRPr lang="en-US" sz="3000" dirty="0"/>
          </a:p>
        </p:txBody>
      </p:sp>
      <p:pic>
        <p:nvPicPr>
          <p:cNvPr id="3" name="Image 0" descr="/home/claude/imgs/numeric_vs_chu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10424160" cy="3474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0292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average 6.0 months tenure vs. 40.2 months for retained customers.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Statistically Validated, Not Coincidence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10424160" cy="3200400"/>
        </p:xfrm>
        <a:graphic>
          <a:graphicData uri="http://schemas.openxmlformats.org/drawingml/2006/table">
            <a:tbl>
              <a:tblPr/>
              <a:tblGrid>
                <a:gridCol w="2606040"/>
                <a:gridCol w="2606040"/>
                <a:gridCol w="2606040"/>
                <a:gridCol w="26060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 differs by churn 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Welch's t-test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&lt; 0.0001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type &amp; churn are dependent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&lt; 0.0001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charges differ by churn 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Welch's t-test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0.010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method &amp; churn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0.144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50292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Tenure and Contract type pass strict statistical significance thresholds (p &lt; 0.05), confirming these are genuine business drivers.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Churn Before It Happens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6400800" cy="1645920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  <a:gridCol w="1600200"/>
                <a:gridCol w="1600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(Churn)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/home/claude/imgs/roc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371600"/>
            <a:ext cx="4023360" cy="33832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365760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independently agree on the top churn drivers — Tenure, Contract type, and Monthly Charges — confirming these findings are robust.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Matters Most to the Model</a:t>
            </a:r>
            <a:endParaRPr lang="en-US" sz="3000" dirty="0"/>
          </a:p>
        </p:txBody>
      </p:sp>
      <p:pic>
        <p:nvPicPr>
          <p:cNvPr id="3" name="Image 0" descr="/home/claude/imgs/feature_importance_r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280160"/>
            <a:ext cx="8869680" cy="512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6459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Conversion Incentive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14884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discount to convert month-to-month customers to annual contracts within their first 6 months.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6459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Onboarding Retention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46520" y="214884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engagement and check-ins during months 1-6, the highest-risk tenure window.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84048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023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Tier Review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452628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high-monthly-charge plans for added value or flexible pricing to reduce price-driven churn.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384048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4023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 the Model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452628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churn-prediction model monthly to flag at-risk accounts for account-manager outreach.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Roadmap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424160" cy="4114800"/>
        </p:xfrm>
        <a:graphic>
          <a:graphicData uri="http://schemas.openxmlformats.org/drawingml/2006/table">
            <a:tbl>
              <a:tblPr/>
              <a:tblGrid>
                <a:gridCol w="914400"/>
                <a:gridCol w="4937760"/>
                <a:gridCol w="2377440"/>
                <a:gridCol w="219456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monthly churn-scoring 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1-2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contract-conversion offer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2-4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90-day onboarding track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Success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3-6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tier review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Product/Pricing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4-8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 churn impact vs. baseline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Here is Predictable — and Preventable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25% of month-to-month customers to annual contracts, paired with an early-tenure retention program, could move churn from 10.6% toward 7-8% — directly protecting recurring revenue.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5669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2026-08-02T16:44:46Z</dcterms:created>
  <dcterms:modified xsi:type="dcterms:W3CDTF">2026-08-02T16:44:46Z</dcterms:modified>
</cp:coreProperties>
</file>